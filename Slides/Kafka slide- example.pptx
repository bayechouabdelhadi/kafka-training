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4549a587a_5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84549a587a_5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4549a587a_5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84549a587a_5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4549a587a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84549a587a_1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4549a587a_5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84549a587a_5_8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4549a587a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84549a587a_1_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4549a587a_5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84549a587a_5_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4549a587a_5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84549a587a_5_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4549a587a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84549a587a_1_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4549a587a_5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84549a587a_5_1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4549a587a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84549a587a_1_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4549a587a_5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84549a587a_5_1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84549a587a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84549a587a_1_4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84549a587a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84549a587a_1_6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84549a587a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84549a587a_1_7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84549a587a_5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84549a587a_5_1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84549a587a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84549a587a_1_6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84549a587a_1_2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84549a587a_1_214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84549a587a_5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84549a587a_5_1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84549a587a_1_2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84549a587a_1_215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84549a587a_1_2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84549a587a_1_215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84549a587a_1_2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84549a587a_1_216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to Apache Kafka</a:t>
            </a:r>
            <a:endParaRPr/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">
                <a:solidFill>
                  <a:srgbClr val="888888"/>
                </a:solidFill>
              </a:rPr>
              <a:t>From Sync vs Async to Event-Driven Development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Synchronous vs Asynchronous</a:t>
            </a:r>
            <a:endParaRPr/>
          </a:p>
        </p:txBody>
      </p:sp>
      <p:pic>
        <p:nvPicPr>
          <p:cNvPr id="136" name="Google Shape;13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0550" y="1145179"/>
            <a:ext cx="7207718" cy="3775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0550" y="1145179"/>
            <a:ext cx="7207718" cy="3775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Event-Driven Development</a:t>
            </a:r>
            <a:endParaRPr/>
          </a:p>
        </p:txBody>
      </p:sp>
      <p:sp>
        <p:nvSpPr>
          <p:cNvPr id="147" name="Google Shape;147;p28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An event represents something that happened in the system.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6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Events are immutable: once they occur, they cannot be changed or undone.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6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Instead of undoing, we can compensate with new events.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3957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Concept of a Log</a:t>
            </a:r>
            <a:endParaRPr/>
          </a:p>
        </p:txBody>
      </p:sp>
      <p:sp>
        <p:nvSpPr>
          <p:cNvPr id="158" name="Google Shape;158;p30"/>
          <p:cNvSpPr txBox="1"/>
          <p:nvPr>
            <p:ph idx="1" type="body"/>
          </p:nvPr>
        </p:nvSpPr>
        <p:spPr>
          <a:xfrm>
            <a:off x="457200" y="1200150"/>
            <a:ext cx="8229600" cy="6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A log is an ordered, immutable sequence of records.</a:t>
            </a:r>
            <a:br>
              <a:rPr lang="en" sz="16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Events are stored in logs for durability and replayability.</a:t>
            </a:r>
            <a:endParaRPr/>
          </a:p>
        </p:txBody>
      </p:sp>
      <p:pic>
        <p:nvPicPr>
          <p:cNvPr id="159" name="Google Shape;15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3388" y="1973675"/>
            <a:ext cx="7197222" cy="300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Kafka</a:t>
            </a:r>
            <a:endParaRPr/>
          </a:p>
        </p:txBody>
      </p:sp>
      <p:pic>
        <p:nvPicPr>
          <p:cNvPr id="165" name="Google Shape;16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5629"/>
            <a:ext cx="85534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Kafka </a:t>
            </a:r>
            <a:r>
              <a:rPr lang="en"/>
              <a:t>Architecture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1" name="Google Shape;171;p32"/>
          <p:cNvSpPr txBox="1"/>
          <p:nvPr>
            <p:ph idx="1" type="body"/>
          </p:nvPr>
        </p:nvSpPr>
        <p:spPr>
          <a:xfrm>
            <a:off x="307675" y="800900"/>
            <a:ext cx="8683800" cy="16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A topic is a category/feed name to which records are stored.</a:t>
            </a:r>
            <a:br>
              <a:rPr lang="en" sz="16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Internally, a topic is implemented as a log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-330200" lvl="0" marL="342900" rtl="0" algn="l">
              <a:spcBef>
                <a:spcPts val="0"/>
              </a:spcBef>
              <a:spcAft>
                <a:spcPts val="0"/>
              </a:spcAft>
              <a:buSzPts val="1600"/>
              <a:buFont typeface="Courier New"/>
              <a:buChar char="•"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Producers publish events to topics.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-330200" lvl="0" marL="342900" rtl="0" algn="l">
              <a:spcBef>
                <a:spcPts val="0"/>
              </a:spcBef>
              <a:spcAft>
                <a:spcPts val="0"/>
              </a:spcAft>
              <a:buSzPts val="1600"/>
              <a:buFont typeface="Courier New"/>
              <a:buChar char="•"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Consumers subscribe and process events.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72" name="Google Shape;17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717050"/>
            <a:ext cx="8839202" cy="2361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Brokers and Clusters</a:t>
            </a:r>
            <a:endParaRPr/>
          </a:p>
        </p:txBody>
      </p:sp>
      <p:pic>
        <p:nvPicPr>
          <p:cNvPr id="178" name="Google Shape;17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6150" y="1063229"/>
            <a:ext cx="7507609" cy="3775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Message</a:t>
            </a:r>
            <a:endParaRPr/>
          </a:p>
        </p:txBody>
      </p:sp>
      <p:pic>
        <p:nvPicPr>
          <p:cNvPr id="184" name="Google Shape;18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5779"/>
            <a:ext cx="8839197" cy="3696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/>
          <p:nvPr>
            <p:ph type="title"/>
          </p:nvPr>
        </p:nvSpPr>
        <p:spPr>
          <a:xfrm>
            <a:off x="457200" y="1002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Partitions and Performance</a:t>
            </a:r>
            <a:endParaRPr/>
          </a:p>
        </p:txBody>
      </p:sp>
      <p:pic>
        <p:nvPicPr>
          <p:cNvPr id="190" name="Google Shape;19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2915" y="907325"/>
            <a:ext cx="7026611" cy="4236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>
            <p:ph type="title"/>
          </p:nvPr>
        </p:nvSpPr>
        <p:spPr>
          <a:xfrm>
            <a:off x="457200" y="1002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Partition</a:t>
            </a:r>
            <a:r>
              <a:rPr lang="en"/>
              <a:t>ing strategies</a:t>
            </a:r>
            <a:endParaRPr/>
          </a:p>
        </p:txBody>
      </p:sp>
      <p:sp>
        <p:nvSpPr>
          <p:cNvPr id="196" name="Google Shape;196;p36"/>
          <p:cNvSpPr txBox="1"/>
          <p:nvPr>
            <p:ph idx="1" type="body"/>
          </p:nvPr>
        </p:nvSpPr>
        <p:spPr>
          <a:xfrm>
            <a:off x="307675" y="894850"/>
            <a:ext cx="8683800" cy="42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Determines which partition a message goes to: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ourier New"/>
              <a:buChar char="●"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Round Robin : Messages distributed evenly across partitions (order cannot be preserved)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ourier New"/>
              <a:buChar char="●"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Key-Based (Hashing): Kafka hashes the key to determine the partition (messages with same key go to the same partition → ordering guaranteed per key) 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b="1" lang="en" sz="1600">
                <a:latin typeface="Courier New"/>
                <a:ea typeface="Courier New"/>
                <a:cs typeface="Courier New"/>
                <a:sym typeface="Courier New"/>
              </a:rPr>
              <a:t>partition = (hash(key)</a:t>
            </a:r>
            <a:r>
              <a:rPr b="1" lang="en" sz="1600">
                <a:latin typeface="Courier New"/>
                <a:ea typeface="Courier New"/>
                <a:cs typeface="Courier New"/>
                <a:sym typeface="Courier New"/>
              </a:rPr>
              <a:t>mod NPartitions</a:t>
            </a:r>
            <a:r>
              <a:rPr b="1" lang="en" sz="1600"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ourier New"/>
              <a:buChar char="●"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Custom :  implement custom </a:t>
            </a: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partitioning</a:t>
            </a: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 (do not </a:t>
            </a: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until</a:t>
            </a: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 you have no choice)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latin typeface="Courier New"/>
                <a:ea typeface="Courier New"/>
                <a:cs typeface="Courier New"/>
                <a:sym typeface="Courier New"/>
              </a:rPr>
              <a:t>Kafka by default uses Round robin for messages with null key, and </a:t>
            </a:r>
            <a:r>
              <a:rPr i="1" lang="en" sz="1600">
                <a:latin typeface="Courier New"/>
                <a:ea typeface="Courier New"/>
                <a:cs typeface="Courier New"/>
                <a:sym typeface="Courier New"/>
              </a:rPr>
              <a:t>Key-Based for messages with non null keys</a:t>
            </a:r>
            <a:endParaRPr i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offsets</a:t>
            </a:r>
            <a:endParaRPr/>
          </a:p>
        </p:txBody>
      </p:sp>
      <p:pic>
        <p:nvPicPr>
          <p:cNvPr id="202" name="Google Shape;20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1025" y="1063379"/>
            <a:ext cx="7516400" cy="3775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Offsets management</a:t>
            </a:r>
            <a:endParaRPr/>
          </a:p>
        </p:txBody>
      </p:sp>
      <p:sp>
        <p:nvSpPr>
          <p:cNvPr id="208" name="Google Shape;208;p38"/>
          <p:cNvSpPr txBox="1"/>
          <p:nvPr>
            <p:ph idx="1" type="body"/>
          </p:nvPr>
        </p:nvSpPr>
        <p:spPr>
          <a:xfrm>
            <a:off x="307800" y="992900"/>
            <a:ext cx="8836200" cy="42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380">
                <a:latin typeface="Courier New"/>
                <a:ea typeface="Courier New"/>
                <a:cs typeface="Courier New"/>
                <a:sym typeface="Courier New"/>
              </a:rPr>
              <a:t>Where Offsets Are Stored:</a:t>
            </a:r>
            <a:endParaRPr b="1" sz="138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38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380">
                <a:latin typeface="Courier New"/>
                <a:ea typeface="Courier New"/>
                <a:cs typeface="Courier New"/>
                <a:sym typeface="Courier New"/>
              </a:rPr>
              <a:t>By default, Kafka stores offsets in an internal topic called </a:t>
            </a:r>
            <a:r>
              <a:rPr b="1" lang="en" sz="1380">
                <a:latin typeface="Courier New"/>
                <a:ea typeface="Courier New"/>
                <a:cs typeface="Courier New"/>
                <a:sym typeface="Courier New"/>
              </a:rPr>
              <a:t>__consumer_offsets</a:t>
            </a:r>
            <a:r>
              <a:rPr lang="en" sz="1380">
                <a:latin typeface="Courier New"/>
                <a:ea typeface="Courier New"/>
                <a:cs typeface="Courier New"/>
                <a:sym typeface="Courier New"/>
              </a:rPr>
              <a:t>. This allows consumers to resume from their last committed position after restart.</a:t>
            </a:r>
            <a:endParaRPr sz="138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38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38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380">
                <a:latin typeface="Courier New"/>
                <a:ea typeface="Courier New"/>
                <a:cs typeface="Courier New"/>
                <a:sym typeface="Courier New"/>
              </a:rPr>
              <a:t>Offset Tracking Methods:</a:t>
            </a:r>
            <a:endParaRPr b="1" sz="138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38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380">
                <a:latin typeface="Courier New"/>
                <a:ea typeface="Courier New"/>
                <a:cs typeface="Courier New"/>
                <a:sym typeface="Courier New"/>
              </a:rPr>
              <a:t>Automatic Commit</a:t>
            </a:r>
            <a:r>
              <a:rPr lang="en" sz="1380">
                <a:latin typeface="Courier New"/>
                <a:ea typeface="Courier New"/>
                <a:cs typeface="Courier New"/>
                <a:sym typeface="Courier New"/>
              </a:rPr>
              <a:t> (enable.auto.commit=true)</a:t>
            </a:r>
            <a:endParaRPr sz="138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38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380">
                <a:latin typeface="Courier New"/>
                <a:ea typeface="Courier New"/>
                <a:cs typeface="Courier New"/>
                <a:sym typeface="Courier New"/>
              </a:rPr>
              <a:t>Kafka automatically commits offsets at intervals (auto.commit.interval.ms).</a:t>
            </a:r>
            <a:endParaRPr sz="138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38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380">
                <a:latin typeface="Courier New"/>
                <a:ea typeface="Courier New"/>
                <a:cs typeface="Courier New"/>
                <a:sym typeface="Courier New"/>
              </a:rPr>
              <a:t>Pros: Simple, no extra code.</a:t>
            </a:r>
            <a:endParaRPr sz="138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38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380">
                <a:latin typeface="Courier New"/>
                <a:ea typeface="Courier New"/>
                <a:cs typeface="Courier New"/>
                <a:sym typeface="Courier New"/>
              </a:rPr>
              <a:t>Cons: Risk of message loss or duplicates if consumer crashes before commit.</a:t>
            </a:r>
            <a:endParaRPr sz="138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38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38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380">
                <a:latin typeface="Courier New"/>
                <a:ea typeface="Courier New"/>
                <a:cs typeface="Courier New"/>
                <a:sym typeface="Courier New"/>
              </a:rPr>
              <a:t>Manual Commit</a:t>
            </a:r>
            <a:r>
              <a:rPr lang="en" sz="1380">
                <a:latin typeface="Courier New"/>
                <a:ea typeface="Courier New"/>
                <a:cs typeface="Courier New"/>
                <a:sym typeface="Courier New"/>
              </a:rPr>
              <a:t> (enable.auto.commit=false)</a:t>
            </a:r>
            <a:endParaRPr sz="138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38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380">
                <a:latin typeface="Courier New"/>
                <a:ea typeface="Courier New"/>
                <a:cs typeface="Courier New"/>
                <a:sym typeface="Courier New"/>
              </a:rPr>
              <a:t>Consumer commits offsets explicitly in code using commitSync() or commitAsync().</a:t>
            </a:r>
            <a:endParaRPr sz="138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38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380">
                <a:latin typeface="Courier New"/>
                <a:ea typeface="Courier New"/>
                <a:cs typeface="Courier New"/>
                <a:sym typeface="Courier New"/>
              </a:rPr>
              <a:t>Pros: More control → ensures at-least-once processing.</a:t>
            </a:r>
            <a:endParaRPr sz="138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38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380">
                <a:latin typeface="Courier New"/>
                <a:ea typeface="Courier New"/>
                <a:cs typeface="Courier New"/>
                <a:sym typeface="Courier New"/>
              </a:rPr>
              <a:t>Cons: Slightly more complex to implement.</a:t>
            </a:r>
            <a:endParaRPr sz="110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38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38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38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38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38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Consumer Groups and Parallelism</a:t>
            </a:r>
            <a:endParaRPr/>
          </a:p>
        </p:txBody>
      </p:sp>
      <p:sp>
        <p:nvSpPr>
          <p:cNvPr id="214" name="Google Shape;214;p39"/>
          <p:cNvSpPr txBox="1"/>
          <p:nvPr>
            <p:ph idx="1" type="body"/>
          </p:nvPr>
        </p:nvSpPr>
        <p:spPr>
          <a:xfrm>
            <a:off x="457200" y="1200150"/>
            <a:ext cx="82296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A consumer group allows multiple consumers to share partitions in order to distribute load and </a:t>
            </a: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achieve</a:t>
            </a: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 parallelisme.</a:t>
            </a:r>
            <a:br>
              <a:rPr lang="en" sz="1600">
                <a:latin typeface="Courier New"/>
                <a:ea typeface="Courier New"/>
                <a:cs typeface="Courier New"/>
                <a:sym typeface="Courier New"/>
              </a:rPr>
            </a:br>
            <a:endParaRPr/>
          </a:p>
        </p:txBody>
      </p:sp>
      <p:pic>
        <p:nvPicPr>
          <p:cNvPr id="215" name="Google Shape;21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6750" y="1700000"/>
            <a:ext cx="6630499" cy="34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Rebalancing</a:t>
            </a:r>
            <a:endParaRPr/>
          </a:p>
        </p:txBody>
      </p:sp>
      <p:sp>
        <p:nvSpPr>
          <p:cNvPr id="221" name="Google Shape;221;p40"/>
          <p:cNvSpPr txBox="1"/>
          <p:nvPr>
            <p:ph idx="1" type="body"/>
          </p:nvPr>
        </p:nvSpPr>
        <p:spPr>
          <a:xfrm>
            <a:off x="457200" y="1200150"/>
            <a:ext cx="8229600" cy="38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Rebalancing occurs when Kafka reassigns partitions to consumers in a consumer group.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Courier New"/>
                <a:ea typeface="Courier New"/>
                <a:cs typeface="Courier New"/>
                <a:sym typeface="Courier New"/>
              </a:rPr>
              <a:t>Triggers:</a:t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A new consumer joins the group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A consumer leaves or crashes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Partition count changes in the topic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Courier New"/>
                <a:ea typeface="Courier New"/>
                <a:cs typeface="Courier New"/>
                <a:sym typeface="Courier New"/>
              </a:rPr>
              <a:t>Purpose:</a:t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Ensure all partitions are assigned to active consumers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Maintain parallelism and load balance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Serialization and Deserialization</a:t>
            </a:r>
            <a:endParaRPr/>
          </a:p>
        </p:txBody>
      </p:sp>
      <p:sp>
        <p:nvSpPr>
          <p:cNvPr id="227" name="Google Shape;227;p41"/>
          <p:cNvSpPr txBox="1"/>
          <p:nvPr>
            <p:ph idx="1" type="body"/>
          </p:nvPr>
        </p:nvSpPr>
        <p:spPr>
          <a:xfrm>
            <a:off x="457200" y="1200150"/>
            <a:ext cx="8229600" cy="38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Brokers store everything as bytes and do not manage data types nor schemas (to simplify brokers).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Courier New"/>
                <a:ea typeface="Courier New"/>
                <a:cs typeface="Courier New"/>
                <a:sym typeface="Courier New"/>
              </a:rPr>
              <a:t>Serialization (Producer Side):</a:t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Converts Java objects or data into byte arrays before sending to Kafka.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[key (string), value (json)] =&gt; [bytes, bytes] 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Courier New"/>
                <a:ea typeface="Courier New"/>
                <a:cs typeface="Courier New"/>
                <a:sym typeface="Courier New"/>
              </a:rPr>
              <a:t>Deserialization (Consumer Side):</a:t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Converts byte arrays back into objects for the consumer to process.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Must use the same format as the producer to correctly read the data.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[bytes, bytes]=&gt; [key (string), value (json)]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2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Schema Registry</a:t>
            </a:r>
            <a:endParaRPr/>
          </a:p>
        </p:txBody>
      </p:sp>
      <p:sp>
        <p:nvSpPr>
          <p:cNvPr id="233" name="Google Shape;233;p42"/>
          <p:cNvSpPr txBox="1"/>
          <p:nvPr>
            <p:ph idx="1" type="body"/>
          </p:nvPr>
        </p:nvSpPr>
        <p:spPr>
          <a:xfrm>
            <a:off x="520075" y="10115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Manages message schemas (Avro, JSON, Protobuf).</a:t>
            </a:r>
            <a:br>
              <a:rPr lang="en" sz="16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Ensures producers and consumers agree on data structure.</a:t>
            </a:r>
            <a:br>
              <a:rPr lang="en" sz="1600"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" sz="1600">
                <a:latin typeface="Courier New"/>
                <a:ea typeface="Courier New"/>
                <a:cs typeface="Courier New"/>
                <a:sym typeface="Courier New"/>
              </a:rPr>
            </a:br>
            <a:endParaRPr/>
          </a:p>
        </p:txBody>
      </p:sp>
      <p:pic>
        <p:nvPicPr>
          <p:cNvPr id="234" name="Google Shape;23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650" y="1731800"/>
            <a:ext cx="7484675" cy="331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Schema </a:t>
            </a:r>
            <a:r>
              <a:rPr lang="en"/>
              <a:t>compatibility</a:t>
            </a:r>
            <a:endParaRPr/>
          </a:p>
        </p:txBody>
      </p:sp>
      <p:sp>
        <p:nvSpPr>
          <p:cNvPr id="240" name="Google Shape;240;p43"/>
          <p:cNvSpPr txBox="1"/>
          <p:nvPr>
            <p:ph idx="1" type="body"/>
          </p:nvPr>
        </p:nvSpPr>
        <p:spPr>
          <a:xfrm>
            <a:off x="457200" y="1200150"/>
            <a:ext cx="8229600" cy="3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Do not break consumers, there are three types of compatibility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ourier New"/>
              <a:buChar char="●"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Backward Compatibility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ourier New"/>
              <a:buChar char="●"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Forward</a:t>
            </a: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Compatibility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Courier New"/>
              <a:buChar char="●"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Full compatibility (Backward and Forward)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Backward compatibility</a:t>
            </a:r>
            <a:endParaRPr/>
          </a:p>
        </p:txBody>
      </p:sp>
      <p:sp>
        <p:nvSpPr>
          <p:cNvPr id="246" name="Google Shape;246;p44"/>
          <p:cNvSpPr txBox="1"/>
          <p:nvPr>
            <p:ph idx="1" type="body"/>
          </p:nvPr>
        </p:nvSpPr>
        <p:spPr>
          <a:xfrm>
            <a:off x="457200" y="1200150"/>
            <a:ext cx="8229600" cy="3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Courier New"/>
                <a:ea typeface="Courier New"/>
                <a:cs typeface="Courier New"/>
                <a:sym typeface="Courier New"/>
              </a:rPr>
              <a:t>Definition:</a:t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New schema (Vn) can read old data (Vn-1)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Courier New"/>
                <a:ea typeface="Courier New"/>
                <a:cs typeface="Courier New"/>
                <a:sym typeface="Courier New"/>
              </a:rPr>
              <a:t>Rules / Examples:</a:t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Remove a field in Vn </a:t>
            </a:r>
            <a:r>
              <a:rPr b="1" lang="en" sz="1900"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 Old data has extra field → New schema can still read </a:t>
            </a: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✅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Add a field with a default value in Vn → Old data doesn’t have it → Default value is used ✅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Courier New"/>
                <a:ea typeface="Courier New"/>
                <a:cs typeface="Courier New"/>
                <a:sym typeface="Courier New"/>
              </a:rPr>
              <a:t>Takeaway:</a:t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Ensures consumers can upgrade safely without breaking existing data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Forward compatibility</a:t>
            </a:r>
            <a:endParaRPr/>
          </a:p>
        </p:txBody>
      </p:sp>
      <p:sp>
        <p:nvSpPr>
          <p:cNvPr id="252" name="Google Shape;252;p45"/>
          <p:cNvSpPr txBox="1"/>
          <p:nvPr>
            <p:ph idx="1" type="body"/>
          </p:nvPr>
        </p:nvSpPr>
        <p:spPr>
          <a:xfrm>
            <a:off x="457200" y="1200150"/>
            <a:ext cx="8229600" cy="3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Courier New"/>
                <a:ea typeface="Courier New"/>
                <a:cs typeface="Courier New"/>
                <a:sym typeface="Courier New"/>
              </a:rPr>
              <a:t>Definition:</a:t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Old schema (Vn-1) can read new data (Vn)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Courier New"/>
                <a:ea typeface="Courier New"/>
                <a:cs typeface="Courier New"/>
                <a:sym typeface="Courier New"/>
              </a:rPr>
              <a:t>Rules / Examples:</a:t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Add a field in Vn → Old schema ignores extra field → works ✅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Remove a field with default value in Vn-1 → Old schema still has default → works ✅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Courier New"/>
                <a:ea typeface="Courier New"/>
                <a:cs typeface="Courier New"/>
                <a:sym typeface="Courier New"/>
              </a:rPr>
              <a:t>Takeaway:</a:t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Ensures producers can upgrade safely without breaking old consumers.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